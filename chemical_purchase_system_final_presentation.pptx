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FA749-D174-417F-A66C-90467CCB3523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D38C1-970D-4DB4-82AF-90D8B9740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83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D38C1-970D-4DB4-82AF-90D8B974013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80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777240"/>
            <a:ext cx="10728655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051560"/>
            <a:ext cx="621792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A7C59"/>
                </a:solidFill>
              </a:defRPr>
            </a:pPr>
            <a:r>
              <a:rPr dirty="0"/>
              <a:t>ACADEMIC PROJECT PRESENTATION  |  FINAL EVALUATION</a:t>
            </a:r>
          </a:p>
          <a:p>
            <a:pPr>
              <a:spcAft>
                <a:spcPts val="1000"/>
              </a:spcAft>
              <a:defRPr sz="3200" b="1">
                <a:solidFill>
                  <a:srgbClr val="2D5A27"/>
                </a:solidFill>
              </a:defRPr>
            </a:pPr>
            <a:r>
              <a:rPr dirty="0"/>
              <a:t>Chemical Purchase System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rPr dirty="0"/>
              <a:t>A Centralized Regulatory Web Platform for Digital Safety Authorization</a:t>
            </a:r>
          </a:p>
        </p:txBody>
      </p:sp>
      <p:pic>
        <p:nvPicPr>
          <p:cNvPr id="12" name="Picture 11" descr="chemical_lab_3d_hero_1788676805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566160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97280" y="3474720"/>
            <a:ext cx="62179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5A27"/>
                </a:solidFill>
              </a:defRPr>
            </a:pPr>
            <a:r>
              <a:rPr dirty="0"/>
              <a:t>CORE ARCHITECTURAL PILLARS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rPr dirty="0"/>
              <a:t>• Mandatory Proof Verification  • 15 Units/Month Limit  • 6-Digit Pickup Code  • Online &amp; Offline Fulfillment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1. Project Introduction &amp; Problem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9441" y="1728216"/>
            <a:ext cx="6174942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rPr dirty="0"/>
              <a:t>THE PROPOSED SOLUTION (CENTRALIZED CPS PLATFORM)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Centralized Digital Governance: </a:t>
            </a:r>
            <a:r>
              <a:rPr sz="1100" dirty="0">
                <a:solidFill>
                  <a:srgbClr val="475569"/>
                </a:solidFill>
              </a:rPr>
              <a:t>A unified multi-role web platform connecting Researchers, Certified Laboratories, and Statutory Regulatory Administrators in real time.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Mandatory Safety Authorization: </a:t>
            </a:r>
            <a:r>
              <a:rPr sz="1100" dirty="0">
                <a:solidFill>
                  <a:srgbClr val="475569"/>
                </a:solidFill>
              </a:rPr>
              <a:t>Every chemical order requires prior submission of verified research justification and government/institutional proof documentation.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Strict 15-Unit Monthly Limit: </a:t>
            </a:r>
            <a:r>
              <a:rPr sz="1100" dirty="0">
                <a:solidFill>
                  <a:srgbClr val="475569"/>
                </a:solidFill>
              </a:rPr>
              <a:t>Automated system-enforced ceiling capping every user at 15 chemical units per calendar month, eradicating hoarding risks.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Tamper-Proof Dual Fulfillment: </a:t>
            </a:r>
            <a:r>
              <a:rPr sz="1100" dirty="0">
                <a:solidFill>
                  <a:srgbClr val="475569"/>
                </a:solidFill>
              </a:rPr>
              <a:t>Supports both in-person verification via cryptographically generated 6-digit pickup codes and secure online payment clearance.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Real-Time Inventory Locking: </a:t>
            </a:r>
            <a:r>
              <a:rPr sz="1100" dirty="0">
                <a:solidFill>
                  <a:srgbClr val="475569"/>
                </a:solidFill>
              </a:rPr>
              <a:t>Atomic inventory reservation guarantees that stock is instantly committed upon approval, preventing double-booking.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3. System Technology Stack &amp;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527048"/>
            <a:ext cx="4882896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FRONTEND PRESENTATION TIER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HTML5 &amp; Modern CSS3: </a:t>
            </a:r>
            <a:r>
              <a:rPr sz="1100">
                <a:solidFill>
                  <a:srgbClr val="475569"/>
                </a:solidFill>
              </a:rPr>
              <a:t>Semantic structure with custom Eco-Emerald design tokens, responsive Flexbox, and CSS Grid.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JavaScript (ES6+): </a:t>
            </a:r>
            <a:r>
              <a:rPr sz="1100">
                <a:solidFill>
                  <a:srgbClr val="475569"/>
                </a:solidFill>
              </a:rPr>
              <a:t>Client-side state management, async RESTful API consumption, and dynamic modal rendering.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Bootstrap 5 Framework: </a:t>
            </a:r>
            <a:r>
              <a:rPr sz="1100">
                <a:solidFill>
                  <a:srgbClr val="475569"/>
                </a:solidFill>
              </a:rPr>
              <a:t>Mobile-first responsive interface, interactive data tables, progress bars, and modal dialogues.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FontAwesome 6 Iconography: </a:t>
            </a:r>
            <a:r>
              <a:rPr sz="1100">
                <a:solidFill>
                  <a:srgbClr val="475569"/>
                </a:solidFill>
              </a:rPr>
              <a:t>Visual iconography providing intuitive visual cues across all three portal dashboards.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4913071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BACKEND APPLICATION TIER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Node.js Runtime: </a:t>
            </a:r>
            <a:r>
              <a:rPr sz="1100">
                <a:solidFill>
                  <a:srgbClr val="475569"/>
                </a:solidFill>
              </a:rPr>
              <a:t>High-performance, event-driven, non-blocking asynchronous JavaScript runtime environment.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Express.js v5 REST API: </a:t>
            </a:r>
            <a:r>
              <a:rPr sz="1100">
                <a:solidFill>
                  <a:srgbClr val="475569"/>
                </a:solidFill>
              </a:rPr>
              <a:t>Scalable routing architecture handling cross-origin requests, controllers, and middleware.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MVC Architecture: </a:t>
            </a:r>
            <a:r>
              <a:rPr sz="1100">
                <a:solidFill>
                  <a:srgbClr val="475569"/>
                </a:solidFill>
              </a:rPr>
              <a:t>Clean separation of Models (SQL data models), Views (Client interfaces), and Controllers.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Multer File Middleware: </a:t>
            </a:r>
            <a:r>
              <a:rPr sz="1100">
                <a:solidFill>
                  <a:srgbClr val="475569"/>
                </a:solidFill>
              </a:rPr>
              <a:t>Secure document uploading enforcing PDF/JPG filetype validation and 5 MB size ceilings.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087367"/>
            <a:ext cx="4882896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DATABASE &amp; STORAGE TIER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MySQL 8.0 Relational RDBMS: </a:t>
            </a:r>
            <a:r>
              <a:rPr sz="1100">
                <a:solidFill>
                  <a:srgbClr val="475569"/>
                </a:solidFill>
              </a:rPr>
              <a:t>Normalized relational database ensuring ACID-compliant transactional consistency.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mysql2 Connection Pooling: </a:t>
            </a:r>
            <a:r>
              <a:rPr sz="1100">
                <a:solidFill>
                  <a:srgbClr val="475569"/>
                </a:solidFill>
              </a:rPr>
              <a:t>High-throughput asynchronous connection pool for fast concurrent query execution.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Dynamic Quota Calculations: </a:t>
            </a:r>
            <a:r>
              <a:rPr sz="1100">
                <a:solidFill>
                  <a:srgbClr val="475569"/>
                </a:solidFill>
              </a:rPr>
              <a:t>SQL windowing and date aggregation computing real-time monthly usage per user.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Relational Foreign Keys: </a:t>
            </a:r>
            <a:r>
              <a:rPr sz="1100">
                <a:solidFill>
                  <a:srgbClr val="475569"/>
                </a:solidFill>
              </a:rPr>
              <a:t>Cascading integrity linking users, laboratories, chemicals, permits, and purchase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4087367"/>
            <a:ext cx="4913071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SECURITY &amp; AUTHENTICATION FRAMEWORK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JSON Web Tokens (JWT): </a:t>
            </a:r>
            <a:r>
              <a:rPr sz="1100">
                <a:solidFill>
                  <a:srgbClr val="475569"/>
                </a:solidFill>
              </a:rPr>
              <a:t>Stateless, cryptographic bearer tokens securely carrying user identity and role claims.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Bcrypt Cryptographic Hashing: </a:t>
            </a:r>
            <a:r>
              <a:rPr sz="1100">
                <a:solidFill>
                  <a:srgbClr val="475569"/>
                </a:solidFill>
              </a:rPr>
              <a:t>One-way salted password hashing protecting user, laboratory, and admin credentials.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Role-Based Access Control (RBAC): </a:t>
            </a:r>
            <a:r>
              <a:rPr sz="1100">
                <a:solidFill>
                  <a:srgbClr val="475569"/>
                </a:solidFill>
              </a:rPr>
              <a:t>Custom authorization middleware restricting endpoints to specific verified user roles.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SQL Injection Protection: </a:t>
            </a:r>
            <a:r>
              <a:rPr sz="1100">
                <a:solidFill>
                  <a:srgbClr val="475569"/>
                </a:solidFill>
              </a:rPr>
              <a:t>Strict parameterized SQL prepared statements eliminating injection vulnerabilities.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4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4. Project Workflow: Multi-Role Collaboration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oles_workflow_diagram_1792594746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3703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79" y="1417320"/>
            <a:ext cx="3962095" cy="4892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2671" y="1527048"/>
            <a:ext cx="3632911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D5A27"/>
                </a:solidFill>
              </a:defRPr>
            </a:pPr>
            <a:r>
              <a:t>COLLABORATIVE ROLE INTERACTION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 1. User (Researcher): </a:t>
            </a:r>
            <a:r>
              <a:rPr sz="1000">
                <a:solidFill>
                  <a:srgbClr val="475569"/>
                </a:solidFill>
              </a:rPr>
              <a:t>Signs in, verifies current monthly quota (15 units), submits permit request with institutional proof, and browses verified lab catalogs.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 2. Admin (Regulator): </a:t>
            </a:r>
            <a:r>
              <a:rPr sz="1000">
                <a:solidFill>
                  <a:srgbClr val="475569"/>
                </a:solidFill>
              </a:rPr>
              <a:t>Acts as compliance authority; inspects uploaded safety docs, evaluates legal purpose, and issues digital authorization permits (AUTH-XXXXXX).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 3. Laboratory (Supplier): </a:t>
            </a:r>
            <a:r>
              <a:rPr sz="1000">
                <a:solidFill>
                  <a:srgbClr val="475569"/>
                </a:solidFill>
              </a:rPr>
              <a:t>Maintains live inventory stock, reviews incoming purchase requests, reserves units, and completes fulfillment.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 Offline Mode Fulfillment: </a:t>
            </a:r>
            <a:r>
              <a:rPr sz="1000">
                <a:solidFill>
                  <a:srgbClr val="475569"/>
                </a:solidFill>
              </a:rPr>
              <a:t>User presents secure 6-digit pickup code at the lab counter; chemist validates code on the portal and dispenses chemicals.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 Online Mode Fulfillment: </a:t>
            </a:r>
            <a:r>
              <a:rPr sz="1000">
                <a:solidFill>
                  <a:srgbClr val="475569"/>
                </a:solidFill>
              </a:rPr>
              <a:t>User clears payment online; chemical package is prepared and shipped directly to user's registered delivery address.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D5A27"/>
                </a:solidFill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5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rPr dirty="0"/>
              <a:t>5. End-to-End Operational </a:t>
            </a:r>
            <a:r>
              <a:rPr lang="en-IN" dirty="0"/>
              <a:t>Work Flow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32918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2918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134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6 of 13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9259CD-55BA-2E54-AA55-1AC6DCD8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50" y="1476615"/>
            <a:ext cx="9812594" cy="4636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6. 3-Month Project Schedule &amp; Timeline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10728655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D5A27"/>
                </a:solidFill>
              </a:defRPr>
            </a:pPr>
            <a:endParaRPr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984653"/>
              </p:ext>
            </p:extLst>
          </p:nvPr>
        </p:nvGraphicFramePr>
        <p:xfrm>
          <a:off x="731520" y="2286000"/>
          <a:ext cx="1072865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Month</a:t>
                      </a:r>
                    </a:p>
                  </a:txBody>
                  <a:tcPr>
                    <a:solidFill>
                      <a:srgbClr val="234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Target Module</a:t>
                      </a:r>
                    </a:p>
                  </a:txBody>
                  <a:tcPr>
                    <a:solidFill>
                      <a:srgbClr val="234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Deliverables &amp; Architectural Milestones</a:t>
                      </a:r>
                    </a:p>
                  </a:txBody>
                  <a:tcPr>
                    <a:solidFill>
                      <a:srgbClr val="234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234B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34B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Month 1</a:t>
                      </a:r>
                      <a:br/>
                      <a:r>
                        <a:t>(Weeks 1 - 4)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 Module &amp;</a:t>
                      </a:r>
                      <a:br/>
                      <a:r>
                        <a:t>Quota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User Registration, Authentication (JWT, Bcrypt) &amp; Profile Management</a:t>
                      </a:r>
                      <a:br/>
                      <a:r>
                        <a:t>• 15-Unit Monthly Purchase Allowance engine with dynamic limit calculations</a:t>
                      </a:r>
                      <a:br/>
                      <a:r>
                        <a:t>• Chemical Authorization request portal with Multer proof document upload</a:t>
                      </a:r>
                      <a:br/>
                      <a:r>
                        <a:t>• Chemical Storefront browsing, purchase order forms &amp; order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4 Weeks</a:t>
                      </a:r>
                      <a:br>
                        <a:rPr dirty="0"/>
                      </a:b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  <a:br/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Month 2</a:t>
                      </a:r>
                      <a:br/>
                      <a:r>
                        <a:t>(Weeks 5 - 8)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Laboratory Module &amp;</a:t>
                      </a:r>
                      <a:br/>
                      <a:r>
                        <a:t>Stock Management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Certified Laboratory registration, licensing &amp; profile management</a:t>
                      </a:r>
                      <a:br/>
                      <a:r>
                        <a:t>• Chemical catalog inventory control (Total Stock, Reserved Stock, Price/Unit)</a:t>
                      </a:r>
                      <a:br/>
                      <a:r>
                        <a:t>• Order review workflow with instant chemical stock reservation locks</a:t>
                      </a:r>
                      <a:br/>
                      <a:r>
                        <a:t>• 6-digit offline pickup code verification terminal &amp; online dispatch tracking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4 Weeks</a:t>
                      </a:r>
                      <a:br>
                        <a:rPr dirty="0"/>
                      </a:br>
                      <a:endParaRPr dirty="0"/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  <a:br/>
                      <a:r>
                        <a:t>Completed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Month 3</a:t>
                      </a:r>
                      <a:br/>
                      <a:r>
                        <a:t>(Weeks 9 - 11)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Admin Governance &amp;</a:t>
                      </a:r>
                      <a:br/>
                      <a:r>
                        <a:t>Regulatory Oversight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Centralized Administrative master dashboard &amp; real-time KPI metrics</a:t>
                      </a:r>
                      <a:br/>
                      <a:r>
                        <a:t>• Laboratory license verification, approval, rejection &amp; audit controls</a:t>
                      </a:r>
                      <a:br/>
                      <a:r>
                        <a:t>• User chemical authorization permit audit with proof document preview</a:t>
                      </a:r>
                      <a:br/>
                      <a:r>
                        <a:t>• System-wide compliance audit logging &amp; role-based route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3 Weeks</a:t>
                      </a:r>
                      <a:br>
                        <a:rPr dirty="0"/>
                      </a:b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  <a:br/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Post-Dev</a:t>
                      </a:r>
                      <a:br/>
                      <a:r>
                        <a:t>(Week 12)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Integration,</a:t>
                      </a:r>
                      <a:br/>
                      <a:r>
                        <a:t>Testing &amp; Deployment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• End-to-end integration testing across User, Laboratory &amp; Admin portals</a:t>
                      </a:r>
                      <a:br/>
                      <a:r>
                        <a:t>• Edge-case testing (e.g., 10 + 10 = 20 &gt; 15 quota boundary violations)</a:t>
                      </a:r>
                      <a:br/>
                      <a:r>
                        <a:t>• Responsive UI verification (Dark/Light themes) &amp; SQL transaction stress testing</a:t>
                      </a:r>
                      <a:br/>
                      <a:r>
                        <a:t>• Comprehensive documentation, user guides, and evaluation walkthroughs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1 Week</a:t>
                      </a:r>
                      <a:br>
                        <a:rPr dirty="0"/>
                      </a:br>
                      <a:endParaRPr dirty="0"/>
                    </a:p>
                  </a:txBody>
                  <a:tcPr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  <a:br/>
                      <a:r>
                        <a:t>Completed</a:t>
                      </a:r>
                    </a:p>
                  </a:txBody>
                  <a:tcPr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Overall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Complete End-to-End Chemical Purchase System (3 Distinct Roles + Full Database)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3 Months</a:t>
                      </a:r>
                      <a:br>
                        <a:rPr dirty="0"/>
                      </a:b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100%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7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7. Detailed Module-by-Module Breakdown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32918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527048"/>
            <a:ext cx="2962656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rPr dirty="0"/>
              <a:t>USER MODULE </a:t>
            </a:r>
            <a:endParaRPr lang="en-IN" dirty="0"/>
          </a:p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rPr sz="1100" b="1" dirty="0">
                <a:solidFill>
                  <a:srgbClr val="0F172A"/>
                </a:solidFill>
              </a:rPr>
              <a:t>•  Researcher Authentication: </a:t>
            </a:r>
            <a:r>
              <a:rPr sz="1100" dirty="0">
                <a:solidFill>
                  <a:srgbClr val="475569"/>
                </a:solidFill>
              </a:rPr>
              <a:t>Secure sign-up, JWT token login, and profile address management.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15-Unit Quota Enforcement: </a:t>
            </a:r>
            <a:r>
              <a:rPr sz="1100" dirty="0">
                <a:solidFill>
                  <a:srgbClr val="475569"/>
                </a:solidFill>
              </a:rPr>
              <a:t>Live monthly allowance tracker capping procurement to 15 units per month.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Permit Applications: </a:t>
            </a:r>
            <a:r>
              <a:rPr sz="1100" dirty="0">
                <a:solidFill>
                  <a:srgbClr val="475569"/>
                </a:solidFill>
              </a:rPr>
              <a:t>Upload institutional proof documents (PDF/JPG) with research purpose description.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Storefront Browsing: </a:t>
            </a:r>
            <a:r>
              <a:rPr sz="1100" dirty="0">
                <a:solidFill>
                  <a:srgbClr val="475569"/>
                </a:solidFill>
              </a:rPr>
              <a:t>Search chemicals across certified laboratories with live stock availability.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Order Placement: </a:t>
            </a:r>
            <a:r>
              <a:rPr sz="1100" dirty="0">
                <a:solidFill>
                  <a:srgbClr val="475569"/>
                </a:solidFill>
              </a:rPr>
              <a:t>Order placement via Offline Pickup (code generation) or Online Delivery.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Purchase History: </a:t>
            </a:r>
            <a:r>
              <a:rPr sz="1100" dirty="0">
                <a:solidFill>
                  <a:srgbClr val="475569"/>
                </a:solidFill>
              </a:rPr>
              <a:t>Complete transaction ledger with real-time status and payment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2918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527048"/>
            <a:ext cx="2962656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rPr dirty="0"/>
              <a:t>LABORATORY MODULE 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Licensing &amp; Profile: </a:t>
            </a:r>
            <a:r>
              <a:rPr sz="1100" dirty="0">
                <a:solidFill>
                  <a:srgbClr val="475569"/>
                </a:solidFill>
              </a:rPr>
              <a:t>Submit institutional lab license credentials for regulatory approval.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Chemical Inventory: </a:t>
            </a:r>
            <a:r>
              <a:rPr sz="1100" dirty="0">
                <a:solidFill>
                  <a:srgbClr val="475569"/>
                </a:solidFill>
              </a:rPr>
              <a:t>Add, edit, and categorize chemicals (unit, formula, price, total stock).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Stock Reservation: </a:t>
            </a:r>
            <a:r>
              <a:rPr sz="1100" dirty="0">
                <a:solidFill>
                  <a:srgbClr val="475569"/>
                </a:solidFill>
              </a:rPr>
              <a:t>Automatic locking of requested chemicals to prevent overselling.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Pickup Code Verifier: </a:t>
            </a:r>
            <a:r>
              <a:rPr sz="1100" dirty="0">
                <a:solidFill>
                  <a:srgbClr val="475569"/>
                </a:solidFill>
              </a:rPr>
              <a:t>Verify the buyer's 6-digit pickup code before physical handover.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Order Dispatch: </a:t>
            </a:r>
            <a:r>
              <a:rPr sz="1100" dirty="0">
                <a:solidFill>
                  <a:srgbClr val="475569"/>
                </a:solidFill>
              </a:rPr>
              <a:t>Mark online orders as 'Paid' and 'Delivered' with courier logging.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Transaction Analytics: </a:t>
            </a:r>
            <a:r>
              <a:rPr sz="1100" dirty="0">
                <a:solidFill>
                  <a:srgbClr val="475569"/>
                </a:solidFill>
              </a:rPr>
              <a:t>Track lab revenue, pending requests, and low-stock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27048"/>
            <a:ext cx="3084271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rPr dirty="0"/>
              <a:t>ADMIN MODULE 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Master Dashboard: </a:t>
            </a:r>
            <a:r>
              <a:rPr sz="1100" dirty="0">
                <a:solidFill>
                  <a:srgbClr val="475569"/>
                </a:solidFill>
              </a:rPr>
              <a:t>Real-time metrics: active users, certified labs, permits, and total sales.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Lab Certification: </a:t>
            </a:r>
            <a:r>
              <a:rPr sz="1100" dirty="0">
                <a:solidFill>
                  <a:srgbClr val="475569"/>
                </a:solidFill>
              </a:rPr>
              <a:t>Review laboratory license documents, approve or reject applications.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Permit Auditing: </a:t>
            </a:r>
            <a:r>
              <a:rPr sz="1100" dirty="0">
                <a:solidFill>
                  <a:srgbClr val="475569"/>
                </a:solidFill>
              </a:rPr>
              <a:t>Inspect user research purpose, verify uploaded proof, and grant permits.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Regulatory Oversight: </a:t>
            </a:r>
            <a:r>
              <a:rPr sz="1100" dirty="0">
                <a:solidFill>
                  <a:srgbClr val="475569"/>
                </a:solidFill>
              </a:rPr>
              <a:t>Inspect system-wide orders, track hazardous chemical distributions.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Audit Logging: </a:t>
            </a:r>
            <a:r>
              <a:rPr sz="1100" dirty="0">
                <a:solidFill>
                  <a:srgbClr val="475569"/>
                </a:solidFill>
              </a:rPr>
              <a:t>Immutable timestamps for regulatory investigations and compliance.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0F172A"/>
                </a:solidFill>
              </a:rPr>
              <a:t>•  Security &amp; RBAC: </a:t>
            </a:r>
            <a:r>
              <a:rPr sz="1100" dirty="0">
                <a:solidFill>
                  <a:srgbClr val="475569"/>
                </a:solidFill>
              </a:rPr>
              <a:t>Strict middleware guarding administrative endpoints against intrusion.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8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rPr dirty="0"/>
              <a:t>8. Key </a:t>
            </a:r>
            <a:r>
              <a:rPr lang="en-IN" dirty="0"/>
              <a:t>features added</a:t>
            </a:r>
            <a:r>
              <a:rPr dirty="0"/>
              <a:t>: 15-Unit Quota &amp; 6-Digit Pickup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527048"/>
            <a:ext cx="4882896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15-UNIT MONTHLY QUOTA ENGINE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Hard Regulatory Ceiling: </a:t>
            </a:r>
            <a:r>
              <a:rPr sz="1100">
                <a:solidFill>
                  <a:srgbClr val="475569"/>
                </a:solidFill>
              </a:rPr>
              <a:t>Every user is strictly limited to purchasing a cumulative maximum of 15 chemical units per calendar month.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Dynamic SQL Aggregation: </a:t>
            </a:r>
            <a:r>
              <a:rPr sz="1100">
                <a:solidFill>
                  <a:srgbClr val="475569"/>
                </a:solidFill>
              </a:rPr>
              <a:t>Calculates usage dynamically: SUM(quantity) WHERE user_id = ? AND YEAR(CURDATE()) AND MONTH(CURDATE()) AND request_status NOT IN ('Rejected', 'Expired').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Intelligent Boundary Enforcement: </a:t>
            </a:r>
            <a:r>
              <a:rPr sz="1100">
                <a:solidFill>
                  <a:srgbClr val="475569"/>
                </a:solidFill>
              </a:rPr>
              <a:t>Prevents multi-stage overages: If a user buys 10 units in Week 1 and requests 10 units in Week 2 (10 + 10 = 20 &gt; 15), the request is rejected with exact remaining allowance (5 units).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Permit Locking Safeguard: </a:t>
            </a:r>
            <a:r>
              <a:rPr sz="1100">
                <a:solidFill>
                  <a:srgbClr val="475569"/>
                </a:solidFill>
              </a:rPr>
              <a:t>Once the 15-unit threshold is reached, both new purchase orders AND new authorization requests are automatically locked.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Profile Quota Card: </a:t>
            </a:r>
            <a:r>
              <a:rPr sz="1100">
                <a:solidFill>
                  <a:srgbClr val="475569"/>
                </a:solidFill>
              </a:rPr>
              <a:t>Real-time visual progress bar in User Profile transitioning from Green (Normal) to Yellow (Moderate) to Red (Quota Exhausted).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2422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4913071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SECURE DUAL FULFILLMENT ARCHITECTURE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6-Digit Cryptographic Code: </a:t>
            </a:r>
            <a:r>
              <a:rPr sz="1100">
                <a:solidFill>
                  <a:srgbClr val="475569"/>
                </a:solidFill>
              </a:rPr>
              <a:t>For Offline Pickup orders, the backend generates a random 6-digit verification code stored securely in the database.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Zero Discrepancy Handover: </a:t>
            </a:r>
            <a:r>
              <a:rPr sz="1100">
                <a:solidFill>
                  <a:srgbClr val="475569"/>
                </a:solidFill>
              </a:rPr>
              <a:t>Lab technicians must enter and validate the buyer's 6-digit code in the lab terminal before physical chemical release.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Real-Time Inventory Locking: </a:t>
            </a:r>
            <a:r>
              <a:rPr sz="1100">
                <a:solidFill>
                  <a:srgbClr val="475569"/>
                </a:solidFill>
              </a:rPr>
              <a:t>Requested chemicals transition from Total Stock to Reserved Stock the instant an order is placed, preventing phantom sales.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Online Tracked Delivery: </a:t>
            </a:r>
            <a:r>
              <a:rPr sz="1100">
                <a:solidFill>
                  <a:srgbClr val="475569"/>
                </a:solidFill>
              </a:rPr>
              <a:t>Online orders support digital payment clearance, automated order dispatch, and 2-day delivery completion windows.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Automatic Expiration Policy: </a:t>
            </a:r>
            <a:r>
              <a:rPr sz="1100">
                <a:solidFill>
                  <a:srgbClr val="475569"/>
                </a:solidFill>
              </a:rPr>
              <a:t>Unclaimed reservations automatically expire, releasing locked inventory back into public lab stock safely.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9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t>9. Key Benefits &amp; Strategic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527048"/>
            <a:ext cx="4882896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REGULATORY COMPLIANCE &amp; LEGAL SAFETY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Total Elimination of Paper Exploits: </a:t>
            </a:r>
            <a:r>
              <a:rPr sz="1100">
                <a:solidFill>
                  <a:srgbClr val="475569"/>
                </a:solidFill>
              </a:rPr>
              <a:t>Substitutes falsifiable paper paperwork with digitally authenticated permits.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Institutional Proof Auditing: </a:t>
            </a:r>
            <a:r>
              <a:rPr sz="1100">
                <a:solidFill>
                  <a:srgbClr val="475569"/>
                </a:solidFill>
              </a:rPr>
              <a:t>Enforces rigorous documentary justification before any hazardous chemical is dispensed.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Statutory Oversight: </a:t>
            </a:r>
            <a:r>
              <a:rPr sz="1100">
                <a:solidFill>
                  <a:srgbClr val="475569"/>
                </a:solidFill>
              </a:rPr>
              <a:t>Empowers government or institutional regulators with continuous monitoring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4913071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ANTI-HOARDING &amp; EQUITABLE DISTRIBUTION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15-Unit Quota Enforcement: </a:t>
            </a:r>
            <a:r>
              <a:rPr sz="1100">
                <a:solidFill>
                  <a:srgbClr val="475569"/>
                </a:solidFill>
              </a:rPr>
              <a:t>Guarantees that sensitive precursor chemicals cannot be stockpiled by unauthorized entities.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Dynamic Balance Calculation: </a:t>
            </a:r>
            <a:r>
              <a:rPr sz="1100">
                <a:solidFill>
                  <a:srgbClr val="475569"/>
                </a:solidFill>
              </a:rPr>
              <a:t>Transparently informs researchers of remaining monthly allowance.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Equitable Resource Allocation: </a:t>
            </a:r>
            <a:r>
              <a:rPr sz="1100">
                <a:solidFill>
                  <a:srgbClr val="475569"/>
                </a:solidFill>
              </a:rPr>
              <a:t>Prevents single laboratories or research teams from exhausting regional supply.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087367"/>
            <a:ext cx="4882896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OPERATIONAL EFFICIENCY &amp; SPEED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70% Reduction in Approval Time: </a:t>
            </a:r>
            <a:r>
              <a:rPr sz="1100">
                <a:solidFill>
                  <a:srgbClr val="475569"/>
                </a:solidFill>
              </a:rPr>
              <a:t>Digital permit review cuts processing time from weeks of physical transit to minutes.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Instant Stock Verification: </a:t>
            </a:r>
            <a:r>
              <a:rPr sz="1100">
                <a:solidFill>
                  <a:srgbClr val="475569"/>
                </a:solidFill>
              </a:rPr>
              <a:t>Researchers can view certified chemical availability without visiting physical laboratories.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Dual Mode Flexibility: </a:t>
            </a:r>
            <a:r>
              <a:rPr sz="1100">
                <a:solidFill>
                  <a:srgbClr val="475569"/>
                </a:solidFill>
              </a:rPr>
              <a:t>Supports immediate local counter pickup via 6-digit code or direct courier delivery.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4087367"/>
            <a:ext cx="4913071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TRANSPARENT INVENTORY &amp; AUDITABILITY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Zero Discrepancy Stock Records: </a:t>
            </a:r>
            <a:r>
              <a:rPr sz="1100">
                <a:solidFill>
                  <a:srgbClr val="475569"/>
                </a:solidFill>
              </a:rPr>
              <a:t>Atomic reservation ensures digital catalog exactly matches physical shelf counts.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Comprehensive Audit Trail: </a:t>
            </a:r>
            <a:r>
              <a:rPr sz="1100">
                <a:solidFill>
                  <a:srgbClr val="475569"/>
                </a:solidFill>
              </a:rPr>
              <a:t>Every action, rejection note, payment, and handover is permanently recorded.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Tamper-Resistant Security: </a:t>
            </a:r>
            <a:r>
              <a:rPr sz="1100">
                <a:solidFill>
                  <a:srgbClr val="475569"/>
                </a:solidFill>
              </a:rPr>
              <a:t>Protected by JWT tokens, Bcrypt password hashing, and parameterized database queries.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10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85800"/>
            <a:ext cx="10728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5A27"/>
                </a:solidFill>
              </a:defRPr>
            </a:pPr>
            <a:r>
              <a:rPr dirty="0"/>
              <a:t>11.  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234440"/>
            <a:ext cx="10728655" cy="22860"/>
          </a:xfrm>
          <a:prstGeom prst="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527048"/>
            <a:ext cx="4882896" cy="467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5A27"/>
                </a:solidFill>
              </a:defRPr>
            </a:pPr>
            <a:r>
              <a:t>PROJECT EXECUTION &amp; OUTCOMES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Successful 3-Month Implementation: </a:t>
            </a:r>
            <a:r>
              <a:rPr sz="1100">
                <a:solidFill>
                  <a:srgbClr val="475569"/>
                </a:solidFill>
              </a:rPr>
              <a:t>The Chemical Purchase System was systematically designed, developed, and verified over a disciplined 3-month schedule (User  →  Lab  →  Admin).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100% Milestone Completion: </a:t>
            </a:r>
            <a:r>
              <a:rPr sz="1100">
                <a:solidFill>
                  <a:srgbClr val="475569"/>
                </a:solidFill>
              </a:rPr>
              <a:t>All planned deliverables across all three functional roles are fully functional, integrated, and validated against edge cases.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Strict Quota Integrity: </a:t>
            </a:r>
            <a:r>
              <a:rPr sz="1100">
                <a:solidFill>
                  <a:srgbClr val="475569"/>
                </a:solidFill>
              </a:rPr>
              <a:t>The 15-unit monthly limit engine successfully prevents hazardous stockpiling, with boundary protection (e.g., 10 + 10 = 20 &gt; 15) and live profile progress tracking.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Robust Security Architecture: </a:t>
            </a:r>
            <a:r>
              <a:rPr sz="1100">
                <a:solidFill>
                  <a:srgbClr val="475569"/>
                </a:solidFill>
              </a:rPr>
              <a:t>Stateless JWT authentication, Bcrypt password encryption, parameterized SQL queries, and Multer document validation provide institutional-grade protection.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</a:rPr>
              <a:t>•  Proven Real-World Utility: </a:t>
            </a:r>
            <a:r>
              <a:rPr sz="1100">
                <a:solidFill>
                  <a:srgbClr val="475569"/>
                </a:solidFill>
              </a:rPr>
              <a:t>Transforms an insecure, error-prone paper process into an automated, transparent, and auditable digital ecosystem.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2422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12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228600"/>
            <a:ext cx="10728655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5A27"/>
                </a:solidFill>
              </a:defRPr>
            </a:pPr>
            <a:r>
              <a:t>CHEMICAL PURCHASE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0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48272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383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0496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SCHEDULE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74320"/>
            <a:ext cx="841248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75569"/>
                </a:solidFill>
              </a:defRPr>
            </a:pPr>
            <a:r>
              <a:t>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74320"/>
            <a:ext cx="841248" cy="292608"/>
          </a:xfrm>
          <a:prstGeom prst="roundRect">
            <a:avLst/>
          </a:prstGeom>
          <a:solidFill>
            <a:srgbClr val="2D5A27"/>
          </a:solidFill>
          <a:ln w="12700">
            <a:solidFill>
              <a:srgbClr val="2D5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777240"/>
            <a:ext cx="10728655" cy="5532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4849" y="1518101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4A7C59"/>
                </a:solidFill>
              </a:defRPr>
            </a:pPr>
            <a:r>
              <a:t>CHEMICAL PURCHASE SYSTEM</a:t>
            </a:r>
          </a:p>
          <a:p>
            <a:pPr algn="ctr">
              <a:spcAft>
                <a:spcPts val="1400"/>
              </a:spcAft>
              <a:defRPr sz="4400" b="1">
                <a:solidFill>
                  <a:srgbClr val="2D5A27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800">
                <a:solidFill>
                  <a:srgbClr val="0F172A"/>
                </a:solidFill>
              </a:defRPr>
            </a:pPr>
            <a:r>
              <a:t>Questions, Demonstrations &amp; Evaluation Discussion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A Final Year Academic Project  |  Node.js • Express.js • MySQL 8.0 • Bootstrap 5  |  Total 3-Month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Chemical Purchase System  |  Final Project Presentation  | 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2187</Words>
  <Application>Microsoft Office PowerPoint</Application>
  <PresentationFormat>Widescreen</PresentationFormat>
  <Paragraphs>224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Rinshad</cp:lastModifiedBy>
  <cp:revision>2</cp:revision>
  <dcterms:created xsi:type="dcterms:W3CDTF">2013-01-27T09:14:16Z</dcterms:created>
  <dcterms:modified xsi:type="dcterms:W3CDTF">2026-10-21T17:58:34Z</dcterms:modified>
  <cp:category/>
</cp:coreProperties>
</file>